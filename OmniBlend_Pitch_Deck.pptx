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xStyles>
    <p:titleStyle>
      <a:lvl1pPr>
        <a:defRPr lang="en-US"/>
      </a:lvl1pPr>
    </p:titleStyle>
    <p:bodyStyle>
      <a:lvl1pPr>
        <a:defRPr lang="en-US"/>
      </a:lvl1pPr>
    </p:bodyStyle>
    <p:otherStyle>
      <a:lvl1pPr>
        <a:defRPr lang="en-US"/>
      </a:lvl1pPr>
    </p:otherStyle>
  </p:txStyles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4400" b="1" i="0" dirty="0">
                <a:solidFill>
                  <a:srgbClr val="FFFFFF"/>
                </a:solidFill>
                <a:latin typeface="Calibri"/>
              </a:rPr>
              <a:t xml:space="preserve">OmniBlend</a:t>
            </a:r>
          </a:p>
          <a:p>
            <a:pPr/>
            <a:endParaRPr lang="en-US" dirty="0"/>
          </a:p>
        </p:txBody>
      </p:sp>
      <p:sp>
        <p:nvSpPr>
          <p:cNvPr id="5" name="t5"/>
          <p:cNvSpPr txBox="1"/>
          <p:nvPr/>
        </p:nvSpPr>
        <p:spPr>
          <a:xfrm>
            <a:off x="548640" y="25603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2200" b="0" i="0" dirty="0">
                <a:solidFill>
                  <a:srgbClr val="B8D4F0"/>
                </a:solidFill>
                <a:latin typeface="Calibri"/>
              </a:rPr>
              <a:t xml:space="preserve">Industry 4.0 Digital Twin Platform for Lube Oil Blending Plants</a:t>
            </a:r>
          </a:p>
        </p:txBody>
      </p:sp>
      <p:sp>
        <p:nvSpPr>
          <p:cNvPr id="6" name="t6"/>
          <p:cNvSpPr txBox="1"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One platform. Real-time data. Intelligent decisions.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The Challenge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Data fragmented across SCADA, LIMS, ERP and spreadsheets — no single source of truth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Quality issues discovered after batches are complete, not before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No real-time visibility into what is happening on the plant floor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Manual shift reports and spreadsheets creating compliance and audit risk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Inaccurate batch costing — material consumption not reconciled against actual prices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Unplanned downtime with no predictive maintenance capability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Introducing OmniBlend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A unified digital twin simulator and integration platform that connects your entire lube oil blending plant into one intelligent command centre.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Four Foundational Pillars</a:t>
            </a:r>
          </a:p>
          <a:p>
            <a:pPr algn="l" spcBef="508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•  Real-Time OT/IT Bridge — live SCADA, LIMS and ERP data streaming in under 2 seconds</a:t>
            </a:r>
          </a:p>
          <a:p>
            <a:pPr algn="l" spcBef="508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•  AI-Powered Quality Prediction — predict viscosity, flash point and TBN before batches complete</a:t>
            </a:r>
          </a:p>
          <a:p>
            <a:pPr algn="l" spcBef="508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•  Full Batch Traceability — raw material to Certificate of Analysis in one audit trail</a:t>
            </a:r>
          </a:p>
          <a:p>
            <a:pPr algn="l" spcBef="508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•  Operational Intelligence — KPIs, cost optimisation and alerts in a single command centre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Seven Integrated Modules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1.  Command Dashboard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Real-time KPIs, live event feed, equipment health, energy heatmap and production timeline</a:t>
            </a:r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2.  Blend Simulator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Batch lifecycle management — queued through to completed — with live temperature and RPM</a:t>
            </a:r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3.  Tank Digital Twin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Visual tank farm: 12 tanks with fill levels, temperatures, material types and status alerts</a:t>
            </a:r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4.  Recipe Lab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AI-assisted formulation design with predicted viscosity, flash point, TBN and cost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Seven Integrated Modules (continued)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5.  Quality AI Engine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Live quality predictions, off-spec risk meter, confidence intervals and AI recommendations</a:t>
            </a:r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6.  Supply &amp; Cost Optimizer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Multi-supplier comparison with live pricing, lead times, reliability scores and AI-optimised mix</a:t>
            </a:r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7.  AI Control Panel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Natural language commands, what-if scenario analysis and cross-module intelligence</a:t>
            </a:r>
          </a:p>
          <a:p>
            <a:pPr/>
            <a:endParaRPr lang="en-US" dirty="0"/>
          </a:p>
          <a:p>
            <a:pPr algn="l" spcBef="254"/>
            <a:r>
              <a:rPr lang="en-US" sz="1300" b="0" i="0" dirty="0">
                <a:solidFill>
                  <a:srgbClr val="9CA3AF"/>
                </a:solidFill>
                <a:latin typeface="Calibri"/>
              </a:rPr>
              <a:t xml:space="preserve">ℹ  All modules are fully built and running as a simulator today, ready for live data integration.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1. Command Dashboard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374151"/>
                </a:solidFill>
                <a:latin typeface="Calibri"/>
              </a:rPr>
              <a:t xml:space="preserve">Central operations overview — the single screen every shift manager needs.</a:t>
            </a:r>
          </a:p>
          <a:p>
            <a:pPr/>
            <a:endParaRPr lang="en-US" dirty="0"/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Production Volume, Cost per Batch, Energy Usage, Equipment Utilisation and On-Spec Rate KPIs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Live event feed — SCADA alarms, lab alerts and ERP notifications in one stream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Equipment health meters with predictive maintenance indicators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Energy consumption heatmap across all equipment, 24 hours a day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Operations timeline showing every batch from start to completion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2. Blend Simulator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374151"/>
                </a:solidFill>
                <a:latin typeface="Calibri"/>
              </a:rPr>
              <a:t xml:space="preserve">Real-time batch management through every stage of the blending process.</a:t>
            </a:r>
          </a:p>
          <a:p>
            <a:pPr/>
            <a:endParaRPr lang="en-US" dirty="0"/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Full batch lifecycle: Queued  →  Mixing  →  Sampling  →  Lab  →  Completed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Live temperature and mixing speed (RPM) monitoring per batch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Animated pipeline flow showing material movement between tanks and blenders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Ingredient sequence display with per-component progress tracking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Batch alerts for temperature deviation, quality hold or equipment fault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3. Tank Digital Twin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374151"/>
                </a:solidFill>
                <a:latin typeface="Calibri"/>
              </a:rPr>
              <a:t xml:space="preserve">A virtual replica of your entire tank farm with live fill levels and conditions.</a:t>
            </a:r>
          </a:p>
          <a:p>
            <a:pPr/>
            <a:endParaRPr lang="en-US" dirty="0"/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All 12 tanks displayed with animated fill levels and real-time temperature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Material type per tank: base oil, viscosity modifier, additives, finished product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Status monitoring: Normal, Low, Critical, Filling, Draining, Offline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Low-stock alerts with visual indicators before shortages impact production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Drag-and-drop tank allocation for material planning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4. Recipe Lab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374151"/>
                </a:solidFill>
                <a:latin typeface="Calibri"/>
              </a:rPr>
              <a:t xml:space="preserve">AI-assisted lubricant formulation design with instant quality and cost predictions.</a:t>
            </a:r>
          </a:p>
          <a:p>
            <a:pPr/>
            <a:endParaRPr lang="en-US" dirty="0"/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Ingredient sliders for base oil, viscosity modifier, antioxidant, detergent and PPD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Real-time AI predictions: Viscosity (KV40/KV100), Flash Point and TBN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Cost per litre calculation with supplier pricing integration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Three AI optimisation modes: Cost-focused, Quality-focused, Balanced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Recipe library with version control and side-by-side comparison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5. Quality AI Engine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374151"/>
                </a:solidFill>
                <a:latin typeface="Calibri"/>
              </a:rPr>
              <a:t xml:space="preserve">Predict quality failures before they happen — not after the batch is complete.</a:t>
            </a:r>
          </a:p>
          <a:p>
            <a:pPr/>
            <a:endParaRPr lang="en-US" dirty="0"/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Live prediction streams for viscosity, flash point and TBN with confidence intervals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Off-spec risk meter (0–100%) with colour-coded alert levels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AI recommendations: adjust ingredient percentages, modify temperature or mixing speed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Predicted vs actual comparison panel — tracks model accuracy per batch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Automatic batch hold notification on off-spec risk threshold breach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6. Supply &amp; Cost Optimizer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374151"/>
                </a:solidFill>
                <a:latin typeface="Calibri"/>
              </a:rPr>
              <a:t xml:space="preserve">Smart procurement decisions based on price, lead time, quality and reliability.</a:t>
            </a:r>
          </a:p>
          <a:p>
            <a:pPr/>
            <a:endParaRPr lang="en-US" dirty="0"/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Multi-supplier selection with per-product quality grade (A+, A, B+, B, C)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Price per litre and lead time comparison across all suppliers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Supplier reliability score based on historical on-time delivery performance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AI-optimised supplier mix — balance cost, quality and delivery risk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Dynamic cost breakdown showing spend by material category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7. AI Control Panel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374151"/>
                </a:solidFill>
                <a:latin typeface="Calibri"/>
              </a:rPr>
              <a:t xml:space="preserve">Command the entire plant using plain English — ask questions, run scenarios, inject events.</a:t>
            </a:r>
          </a:p>
          <a:p>
            <a:pPr/>
            <a:endParaRPr lang="en-US" dirty="0"/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Natural language interface: 'Start blend B101', 'Optimise recipe for cost'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What-if scenario comparison — run two configurations side by side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Event injection for training: simulate equipment failure, material shortage, quality deviation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Quick command library covering the most common plant operations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Powered by Claude API (Anthropic) for accurate intent parsing and response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From Simulator to Production  —  26-Week Roadmap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500" b="0" i="0" dirty="0">
                <a:solidFill>
                  <a:srgbClr val="374151"/>
                </a:solidFill>
                <a:latin typeface="Calibri"/>
              </a:rPr>
              <a:t xml:space="preserve">The simulator is fully built and ready. The 26-week plan connects it to your real plant.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0B1F3A"/>
                </a:solidFill>
                <a:latin typeface="Calibri"/>
              </a:rPr>
              <a:t xml:space="preserve">Weeks 1–6    Foundation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Production-grade infrastructure, security, authentication and audit logging</a:t>
            </a:r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Weeks 5–14   Live Data Connections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SCADA / OPC-UA bridge for tanks and blenders  |  LIMS integration for lab results</a:t>
            </a:r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Weeks 12–20  Business Systems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ERP / MES sync for recipes and production orders  |  Live supplier pricing feed</a:t>
            </a:r>
          </a:p>
          <a:p>
            <a:pPr algn="l" spcBef="762"/>
            <a:r>
              <a:rPr lang="en-US" sz="1800" b="1" i="0" dirty="0">
                <a:solidFill>
                  <a:srgbClr val="00B4D8"/>
                </a:solidFill>
                <a:latin typeface="Calibri"/>
              </a:rPr>
              <a:t xml:space="preserve">Weeks 18–26  Intelligence &amp; Go-Live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Real ML models trained on your data  |  Full go-live with 4-week hypercare</a:t>
            </a:r>
          </a:p>
          <a:p>
            <a:pPr algn="l" spcBef="254"/>
            <a:r>
              <a:rPr lang="en-US" sz="1300" b="0" i="0" dirty="0">
                <a:solidFill>
                  <a:srgbClr val="9CA3AF"/>
                </a:solidFill>
                <a:latin typeface="Calibri"/>
              </a:rPr>
              <a:t xml:space="preserve">ℹ  Timelines are tentative and will be confirmed during the Assessment phase.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Key Benefits</a:t>
            </a:r>
          </a:p>
        </p:txBody>
      </p:sp>
      <p:sp>
        <p:nvSpPr>
          <p:cNvPr id="9" name="r9"/>
          <p:cNvSpPr/>
          <p:nvPr/>
        </p:nvSpPr>
        <p:spPr>
          <a:xfrm>
            <a:off x="274320" y="1188720"/>
            <a:ext cx="4160520" cy="381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4709160" y="1188720"/>
            <a:ext cx="4160520" cy="381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365760" y="1280160"/>
            <a:ext cx="4069080" cy="36347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Operational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Single source of truth — end of spreadsheets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Real-time plant visibility for shift managers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Batch traceability from raw material to COA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Predictive maintenance reduces unplanned downtime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Commercial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Accurate cost-per-batch with live pricing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AI-optimised supplier mix lowers material cost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Faster COA generation — hours to minutes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892040" y="1280160"/>
            <a:ext cx="4069080" cy="36347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0B981"/>
                </a:solidFill>
                <a:latin typeface="Calibri"/>
              </a:rPr>
              <a:t xml:space="preserve">Quality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Predict off-spec batches before they complete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Reduce out-of-spec batch rate with AI guidance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LIMS-connected quality archive for ML training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F59E0B"/>
                </a:solidFill>
                <a:latin typeface="Calibri"/>
              </a:rPr>
              <a:t xml:space="preserve">Compliance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Instant audit-ready batch genealogy records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IEC 62443-compliant OT/IT security architecture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Version-controlled standards and COA vault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Ready to Start?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00B4D8"/>
                </a:solidFill>
                <a:latin typeface="Calibri"/>
              </a:rPr>
              <a:t xml:space="preserve">Step 1  —  Assessment &amp; Discovery  (2 weeks)</a:t>
            </a:r>
          </a:p>
          <a:p>
            <a:pPr algn="l" spcBef="508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•  Current-state review of systems, data readiness, and plant processes</a:t>
            </a:r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Step 2  —  Infrastructure &amp; Security  (Weeks 1–6)</a:t>
            </a:r>
          </a:p>
          <a:p>
            <a:pPr algn="l" spcBef="508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•  Cloud or on-premise deployment, authentication, RBAC, IEC 62443 security</a:t>
            </a:r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Step 3  —  Live Data Connections  (Weeks 5–14)</a:t>
            </a:r>
          </a:p>
          <a:p>
            <a:pPr algn="l" spcBef="508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•  SCADA bridge for tanks and blenders, LIMS integration for lab results</a:t>
            </a:r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Step 4  —  Business Systems &amp; Intelligence  (Weeks 12–24)</a:t>
            </a:r>
          </a:p>
          <a:p>
            <a:pPr algn="l" spcBef="508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•  ERP sync, supplier pricing, ML model training on your historical data</a:t>
            </a:r>
          </a:p>
          <a:p>
            <a:pPr algn="l" spcBef="762"/>
            <a:r>
              <a:rPr lang="en-US" sz="1800" b="1" i="0" dirty="0">
                <a:solidFill>
                  <a:srgbClr val="10B981"/>
                </a:solidFill>
                <a:latin typeface="Calibri"/>
              </a:rPr>
              <a:t xml:space="preserve">Step 5  —  Go-Live &amp; Hypercare  (Weeks 22–26)</a:t>
            </a:r>
          </a:p>
          <a:p>
            <a:pPr algn="l" spcBef="508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•  Phased cutover from simulator sources to live data, 4-week on-site hypercare</a:t>
            </a:r>
          </a:p>
        </p:txBody>
      </p:sp>
    </p:spTree>
  </p:cSld>
</p:sld>
</file>

<file path=ppt/theme/theme1.xml><?xml version="1.0" encoding="utf-8"?>
<a:theme xmlns:a="http://schemas.openxmlformats.org/drawingml/2006/main" name="OmniBlend">
  <a:themeElements>
    <a:clrScheme name="OmniBlend">
      <a:dk1>
        <a:srgbClr val="0B1F3A"/>
      </a:dk1>
      <a:lt1>
        <a:srgbClr val="FFFFFF"/>
      </a:lt1>
      <a:dk2>
        <a:srgbClr val="1B4F8A"/>
      </a:dk2>
      <a:lt2>
        <a:srgbClr val="EEF4F8"/>
      </a:lt2>
      <a:accent1>
        <a:srgbClr val="00B4D8"/>
      </a:accent1>
      <a:accent2>
        <a:srgbClr val="F59E0B"/>
      </a:accent2>
      <a:accent3>
        <a:srgbClr val="10B981"/>
      </a:accent3>
      <a:accent4>
        <a:srgbClr val="9CA3AF"/>
      </a:accent4>
      <a:accent5>
        <a:srgbClr val="1A1A2E"/>
      </a:accent5>
      <a:accent6>
        <a:srgbClr val="7F7F7F"/>
      </a:accent6>
      <a:hlink>
        <a:srgbClr val="00B4D8"/>
      </a:hlink>
      <a:folHlink>
        <a:srgbClr val="954F72"/>
      </a:folHlink>
    </a:clrScheme>
    <a:fontScheme name="OmniBlen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OmniBlend</Application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OmniBlend — Pitch Deck</dc:title>
  <dc:creator>OmniBlend</dc:creator>
  <dcterms:created xsi:type="dcterms:W3CDTF">2026-05-07T05:42:14Z</dcterms:created>
  <dcterms:modified xsi:type="dcterms:W3CDTF">2026-05-07T05:42:14Z</dcterms:modified>
</cp:coreProperties>
</file>