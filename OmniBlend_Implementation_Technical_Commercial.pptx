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>
        <a:defRPr lang="en-US"/>
      </a:lvl1pPr>
    </p:titleStyle>
    <p:bodyStyle>
      <a:lvl1pPr>
        <a:defRPr lang="en-US"/>
      </a:lvl1pPr>
    </p:bodyStyle>
    <p:otherStyle>
      <a:lvl1pPr>
        <a:defRPr lang="en-US"/>
      </a:lvl1pPr>
    </p:otherStyle>
  </p:txStyles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4400" b="1" i="0" dirty="0">
                <a:solidFill>
                  <a:srgbClr val="FFFFFF"/>
                </a:solidFill>
                <a:latin typeface="Calibri"/>
              </a:rPr>
              <a:t xml:space="preserve">OmniBlend Implementation</a:t>
            </a:r>
          </a:p>
          <a:p>
            <a:pPr/>
            <a:endParaRPr lang="en-US" dirty="0"/>
          </a:p>
        </p:txBody>
      </p:sp>
      <p:sp>
        <p:nvSpPr>
          <p:cNvPr id="5" name="t5"/>
          <p:cNvSpPr txBox="1"/>
          <p:nvPr/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2200" b="0" i="0" dirty="0">
                <a:solidFill>
                  <a:srgbClr val="B8D4F0"/>
                </a:solidFill>
                <a:latin typeface="Calibri"/>
              </a:rPr>
              <a:t xml:space="preserve">Technical &amp; Commercial Overview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26-Week Digital Transformation Programme  |  Lube Oil Blending Plants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Implementation Approach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1A1A2E"/>
                </a:solidFill>
                <a:latin typeface="Calibri"/>
              </a:rPr>
              <a:t xml:space="preserve">OmniBlend follows a structured 8-phase programme designed to de-risk delivery, demonstrate value early, and build toward full production integration.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Guiding Principles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Simulator-first — all 7 modules are live on day one, populated with real data progressively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Phase-gated — each phase has clear criteria before the next begins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Security-first — no live plant data until infrastructure and security phases pass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Non-disruptive — existing systems continue operating throughout; OmniBlend runs in parallel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Programme Structure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8 phases over 26 weeks (approximately 6 calendar months)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Phases 1–2 run in parallel; remaining phases follow a defined critical path</a:t>
            </a:r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All timelines stated in this document are tentative estimates. Final schedule confirmed post-Assessment.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26-Week Roadmap Overview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1" i="0" dirty="0">
                <a:solidFill>
                  <a:srgbClr val="F59E0B"/>
                </a:solidFill>
                <a:latin typeface="Calibri"/>
              </a:rPr>
              <a:t xml:space="preserve">Tentative timeline — to be confirmed following Assessment completion.</a:t>
            </a:r>
          </a:p>
          <a:p>
            <a:pPr/>
            <a:endParaRPr lang="en-US" dirty="0"/>
          </a:p>
          <a:p>
            <a:pPr algn="l"/>
            <a:r>
              <a:rPr lang="en-US" sz="1600" b="1" i="0" dirty="0">
                <a:solidFill>
                  <a:srgbClr val="0B1F3A"/>
                </a:solidFill>
                <a:latin typeface="Calibri"/>
              </a:rPr>
              <a:t xml:space="preserve">Weeks  1–4    PHASE 1  Infrastructure Foundation</a:t>
            </a:r>
          </a:p>
          <a:p>
            <a:pPr algn="l"/>
            <a:r>
              <a:rPr lang="en-US" sz="1600" b="1" i="0" dirty="0">
                <a:solidFill>
                  <a:srgbClr val="0B1F3A"/>
                </a:solidFill>
                <a:latin typeface="Calibri"/>
              </a:rPr>
              <a:t xml:space="preserve">Weeks  3–6    PHASE 2  Security Hardening  (parallel with P1)</a:t>
            </a:r>
          </a:p>
          <a:p>
            <a:pPr algn="l"/>
            <a:r>
              <a:rPr lang="en-US" sz="1600" b="1" i="0" dirty="0">
                <a:solidFill>
                  <a:srgbClr val="1B4F8A"/>
                </a:solidFill>
                <a:latin typeface="Calibri"/>
              </a:rPr>
              <a:t xml:space="preserve">Weeks  5–10   PHASE 3  SCADA / OPC-UA Bridge</a:t>
            </a:r>
          </a:p>
          <a:p>
            <a:pPr algn="l"/>
            <a:r>
              <a:rPr lang="en-US" sz="1600" b="1" i="0" dirty="0">
                <a:solidFill>
                  <a:srgbClr val="1B4F8A"/>
                </a:solidFill>
                <a:latin typeface="Calibri"/>
              </a:rPr>
              <a:t xml:space="preserve">Weeks  8–14   PHASE 4  LIMS Integration</a:t>
            </a:r>
          </a:p>
          <a:p>
            <a:pPr algn="l"/>
            <a:r>
              <a:rPr lang="en-US" sz="1600" b="1" i="0" dirty="0">
                <a:solidFill>
                  <a:srgbClr val="374151"/>
                </a:solidFill>
                <a:latin typeface="Calibri"/>
              </a:rPr>
              <a:t xml:space="preserve">Weeks 12–18   PHASE 5  MES / ERP Sync</a:t>
            </a:r>
          </a:p>
          <a:p>
            <a:pPr algn="l"/>
            <a:r>
              <a:rPr lang="en-US" sz="1600" b="1" i="0" dirty="0">
                <a:solidFill>
                  <a:srgbClr val="374151"/>
                </a:solidFill>
                <a:latin typeface="Calibri"/>
              </a:rPr>
              <a:t xml:space="preserve">Weeks 16–20   PHASE 6  Supplier Pricing Feed</a:t>
            </a:r>
          </a:p>
          <a:p>
            <a:pPr algn="l"/>
            <a:r>
              <a:rPr lang="en-US" sz="1600" b="1" i="0" dirty="0">
                <a:solidFill>
                  <a:srgbClr val="00B4D8"/>
                </a:solidFill>
                <a:latin typeface="Calibri"/>
              </a:rPr>
              <a:t xml:space="preserve">Weeks 18–24   PHASE 7  ML Model Training Pipeline</a:t>
            </a:r>
          </a:p>
          <a:p>
            <a:pPr algn="l"/>
            <a:r>
              <a:rPr lang="en-US" sz="1600" b="1" i="0" dirty="0">
                <a:solidFill>
                  <a:srgbClr val="10B981"/>
                </a:solidFill>
                <a:latin typeface="Calibri"/>
              </a:rPr>
              <a:t xml:space="preserve">Weeks 22–26   PHASE 8  Time-Series DB &amp; Go-Live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PHASES 1 &amp; 2  |  Weeks 1–6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Foundation &amp; Security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PREREQUISITE — no live plant data until both phases pass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Phases 1 &amp; 2  —  Foundation &amp; Security</a:t>
            </a:r>
          </a:p>
        </p:txBody>
      </p:sp>
      <p:sp>
        <p:nvSpPr>
          <p:cNvPr id="9" name="r9"/>
          <p:cNvSpPr/>
          <p:nvPr/>
        </p:nvSpPr>
        <p:spPr>
          <a:xfrm>
            <a:off x="27432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70916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Phase 1  —  Infrastructure  (Weeks 1–4)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Cloud or on-premise Kubernetes cluster deployment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PostgreSQL with TimescaleDB extension for time-series data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Redis for real-time WebSocket streaming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SSL/HTTPS across all endpoints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Dev / Staging / Production environment isolation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Load testing to confirm WebSocket capacity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89204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Phase 2  —  Security  (Weeks 3–6)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OAuth2 / JWT authentication (Keycloak, Auth0 or AWS Cognito)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Role-based access: Operator, Engineer, Manager, Read-Only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VPN tunnel between plant network and application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IEC 62443 five-zone network security model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Immutable audit log for all batch and quality writes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Penetration test sign-off before Phase 3 begins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PHASES 3 &amp; 4  |  Weeks 5–14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Live Data Connections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CRITICAL PATH — SCADA and LIMS are the foundation of all ML and ERP phases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Phases 3 &amp; 4  —  Live Data Connections</a:t>
            </a:r>
          </a:p>
        </p:txBody>
      </p:sp>
      <p:sp>
        <p:nvSpPr>
          <p:cNvPr id="9" name="r9"/>
          <p:cNvSpPr/>
          <p:nvPr/>
        </p:nvSpPr>
        <p:spPr>
          <a:xfrm>
            <a:off x="27432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70916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Phase 3  —  SCADA / OPC-UA Bridge  (Weeks 5–10)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OPC-UA tag audit — all 12 tank level and temperature sensors mapped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Live tank fill levels and temperatures replace simulated values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Blender RPM and temperature from VFD and thermocouple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Pipeline flow animations driven by real flow meter readings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SCADA alarms forwarded to Live Event Feed within 60 seconds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Bridge uptime monitoring — target greater than 99.5%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89204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Phase 4  —  LIMS Integration  (Weeks 8–14)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LIMS API mapping — webhook or polling connector deployed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Lab results (viscosity, flash point, TBN) ingested within 5 minutes of sign-off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Predicted vs Actual comparison panel activated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On-Spec Rate KPI now sourced from LIMS — not simulated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Off-spec batch hold notifications activated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LIMS archive accumulating for ML model training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PHASES 5 &amp; 6  |  Weeks 12–20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Business Systems Integration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ERP sync and live supplier pricing complete the commercial data layer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Phases 5 &amp; 6  —  Business Systems</a:t>
            </a:r>
          </a:p>
        </p:txBody>
      </p:sp>
      <p:sp>
        <p:nvSpPr>
          <p:cNvPr id="9" name="r9"/>
          <p:cNvSpPr/>
          <p:nvPr/>
        </p:nvSpPr>
        <p:spPr>
          <a:xfrm>
            <a:off x="27432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70916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Phase 5  —  MES / ERP Sync  (Weeks 12–18)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SAP RFC / BAPI or OData adapter deployed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Production orders auto-import — manual creation retired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Recipe formulations sync from SAP PP-PI — seed recipes retired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Batch completion events close MES production orders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Material consumption actuals posted back to SAP for cost settlement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Operations timeline now reflects real MES production history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89204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Phase 6  —  Supplier Pricing Feed  (Weeks 16–20)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EDI or supplier REST API pipeline with daily price ingestion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Recipe Lab cost-per-litre sourced from live supplier feed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Cost per Batch KPI now uses real material and energy costs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Lead times sourced from ERP PO history — not hardcoded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Reliability scores calculated from ERP on-time delivery (12-month rolling)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Supply Optimizer producing actionable recommendations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400" b="0" i="0" dirty="0">
                <a:solidFill>
                  <a:srgbClr val="00B4D8"/>
                </a:solidFill>
                <a:latin typeface="Calibri"/>
              </a:rPr>
              <a:t xml:space="preserve">PHASES 7 &amp; 8  |  Weeks 18–26</a:t>
            </a:r>
          </a:p>
        </p:txBody>
      </p:sp>
      <p:sp>
        <p:nvSpPr>
          <p:cNvPr id="5" name="t5"/>
          <p:cNvSpPr txBox="1"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Calibri"/>
              </a:rPr>
              <a:t xml:space="preserve">Intelligence Layer &amp; Go-Live</a:t>
            </a:r>
          </a:p>
        </p:txBody>
      </p:sp>
      <p:sp>
        <p:nvSpPr>
          <p:cNvPr id="6" name="t6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B8D4F0"/>
                </a:solidFill>
                <a:latin typeface="Calibri"/>
              </a:rPr>
              <a:t xml:space="preserve">Real ML models trained on your data, then full production cutover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Phases 7 &amp; 8  —  Intelligence &amp; Go-Live</a:t>
            </a:r>
          </a:p>
        </p:txBody>
      </p:sp>
      <p:sp>
        <p:nvSpPr>
          <p:cNvPr id="9" name="r9"/>
          <p:cNvSpPr/>
          <p:nvPr/>
        </p:nvSpPr>
        <p:spPr>
          <a:xfrm>
            <a:off x="27432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4709160" y="1188720"/>
            <a:ext cx="4160520" cy="38176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36576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Phase 7  —  ML Training Pipeline  (Weeks 18–24)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Data extraction from LIMS and SCADA (200+ batches required)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Viscosity predictor — GradientBoosting, target R² &gt; 0.92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Flash Point predictor — Neural Network, target R² &gt; 0.92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TBN predictor — RandomForest Regressor, target R² &gt; 0.92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Off-spec Risk Classifier — XGBoost, false negative rate &lt; 5%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AI Recipe Optimiser with constrained optimisation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ML drift monitoring with automatic retraining alerts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892040" y="1280160"/>
            <a:ext cx="4069080" cy="36347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0B981"/>
                </a:solidFill>
                <a:latin typeface="Calibri"/>
              </a:rPr>
              <a:t xml:space="preserve">Phase 8  —  Go-Live  (Weeks 22–26)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Energy Heatmap connected to real BMS meter readings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AI Control Panel upgraded to Claude API (natural language)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APM monitoring with SLO dashboards (API latency, WebSocket, DB)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Log aggregation and on-call alerting configured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Operator training for all four roles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Phased cutover — simulated data sources retired sequentially</a:t>
            </a:r>
          </a:p>
          <a:p>
            <a:pPr algn="l" spcBef="508"/>
            <a:r>
              <a:rPr lang="en-US" sz="1500" b="0" i="0" dirty="0">
                <a:solidFill>
                  <a:srgbClr val="1A1A2E"/>
                </a:solidFill>
                <a:latin typeface="Calibri"/>
              </a:rPr>
              <a:t xml:space="preserve">•  4-week hypercare with on-site support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Technical Architecture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Frontend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React + TypeScript — modular, one component per module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Tailwind CSS with glassmorphism design, animated pipelines and 3D tank visualisation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Recharts for real-time charts  |  Zustand for global state management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Backend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FastAPI (Python) — REST and WebSocket API, 48+ endpoints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PostgreSQL with TimescaleDB — batch, quality, tank and equipment data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Redis — real-time pub/sub for WebSocket streaming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Celery — background task queue for simulation and ingestion jobs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AI / ML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Scikit-learn / TensorFlow — viscosity, flash point, TBN and off-spec models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Claude API (Anthropic) — natural language command parsing in AI Control Panel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Integration Landscape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OT Layer  (Phase 3)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SCADA / DCS  →  OPC-UA bridge  →  FastAPI  →  WebSocket  →  Dashboard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Tank level + temperature, blender RPM + temp, flow meters, alarms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Quality Layer  (Phase 4)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LIMS  →  Webhook / REST connector  →  Quality AI Engine + Dashboard On-Spec KPI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Viscosity (ASTM D445), Flash Point (PM), TBN (ASTM D2896)  — results in &lt; 5 minutes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Business Layer  (Phases 5 &amp; 6)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SAP PP-PI  →  RFC / BAPI  →  Recipe Lab and Blend Simulator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SAP MM  →  OData  →  Supplier lead times and reliability scores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Supplier portals / EDI  →  API pipeline  →  Recipe Lab and Supply Optimizer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Intelligence Layer  (Phase 7)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LIMS + SCADA historian  →  ML training pipeline  →  Quality AI Engine + Recipe Lab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Commercial Model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/>
            <a:r>
              <a:rPr lang="en-US" sz="1600" b="0" i="0" dirty="0">
                <a:solidFill>
                  <a:srgbClr val="374151"/>
                </a:solidFill>
                <a:latin typeface="Calibri"/>
              </a:rPr>
              <a:t xml:space="preserve">OmniBlend is delivered as a professional services and platform engagement.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Engagement Components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Discovery &amp; Assessment  —  fixed fee, 2-week engagement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Implementation Programme  —  time and materials across 8 phases, 26 weeks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Platform Licence  —  annual subscription covering software, updates and support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Hypercare  —  4 weeks included post go-live; extended support available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What Determines Cost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Number of blending lines and tanks in scope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SCADA, LIMS and ERP systems already in place vs requiring procurement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Cloud-hosted vs on-premise deployment preference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ML model training data availability and quality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 detailed commercial proposal is issued following Assessment completion.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Key Risks &amp; Mitigations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EF4444"/>
                </a:solidFill>
                <a:latin typeface="Calibri"/>
              </a:rPr>
              <a:t xml:space="preserve">Risk 1  —  SCADA / OPC-UA Access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Risk: OT team reluctant to grant network access to IT layer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Mitigation: IEC 62443 zone model + unidirectional data diode in OT/DMZ</a:t>
            </a:r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Risk 2  —  LIMS API Availability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Risk: LIMS vendor does not expose a webhook or REST API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Mitigation: Polling connector or database-level extract as fallback</a:t>
            </a:r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Risk 3  —  Insufficient ML Training Data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Risk: Fewer than 200 historical batches with complete LIMS results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Mitigation: Phase 7 delayed until archive accumulates; simulated models extended</a:t>
            </a:r>
          </a:p>
          <a:p>
            <a:pPr algn="l" spcBef="762"/>
            <a:r>
              <a:rPr lang="en-US" sz="1800" b="1" i="0" dirty="0">
                <a:solidFill>
                  <a:srgbClr val="F59E0B"/>
                </a:solidFill>
                <a:latin typeface="Calibri"/>
              </a:rPr>
              <a:t xml:space="preserve">Risk 4  —  Change Adoption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Risk: Operations team continues to use spreadsheets in parallel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Mitigation: Phased cutover, role-specific training, champion identified per shift</a:t>
            </a:r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Full risk register produced during Assessment phase with plant-specific mitigations.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Calibri"/>
              </a:rPr>
              <a:t xml:space="preserve">Next Steps</a:t>
            </a:r>
          </a:p>
        </p:txBody>
      </p:sp>
      <p:sp>
        <p:nvSpPr>
          <p:cNvPr id="5" name="t5"/>
          <p:cNvSpPr txBox="1"/>
          <p:nvPr/>
        </p:nvSpPr>
        <p:spPr>
          <a:xfrm>
            <a:off x="365760" y="1188720"/>
            <a:ext cx="8412480" cy="39090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/>
          <a:lstStyle/>
          <a:p>
            <a:pPr algn="l" spcBef="762"/>
            <a:r>
              <a:rPr lang="en-US" sz="1800" b="1" i="0" dirty="0">
                <a:solidFill>
                  <a:srgbClr val="00B4D8"/>
                </a:solidFill>
                <a:latin typeface="Calibri"/>
              </a:rPr>
              <a:t xml:space="preserve">To progress to Implementation:</a:t>
            </a:r>
          </a:p>
          <a:p>
            <a:pPr/>
            <a:endParaRPr lang="en-US" dirty="0"/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Complete the Assessment Toolkit (2-week Discovery engagement)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Confirm cloud vs on-premise deployment preference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Identify IT/OT liaison and business sponsor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Confirm SAP, LIMS and SCADA access for integration planning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Review and approve commercial proposal following Assessment output</a:t>
            </a:r>
          </a:p>
          <a:p>
            <a:pPr/>
            <a:endParaRPr lang="en-US" dirty="0"/>
          </a:p>
          <a:p>
            <a:pPr algn="l" spcBef="762"/>
            <a:r>
              <a:rPr lang="en-US" sz="1800" b="1" i="0" dirty="0">
                <a:solidFill>
                  <a:srgbClr val="1B4F8A"/>
                </a:solidFill>
                <a:latin typeface="Calibri"/>
              </a:rPr>
              <a:t xml:space="preserve">Workstream Kickoff (Week 1 of Programme):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DevOps engineer begins cloud provisioning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IT Security team begins OAuth2 / IEC 62443 security design</a:t>
            </a:r>
          </a:p>
          <a:p>
            <a:pPr algn="l" spcBef="508"/>
            <a:r>
              <a:rPr lang="en-US" sz="1700" b="0" i="0" dirty="0">
                <a:solidFill>
                  <a:srgbClr val="1A1A2E"/>
                </a:solidFill>
                <a:latin typeface="Calibri"/>
              </a:rPr>
              <a:t xml:space="preserve">•  OT engineer begins OPC-UA tag audit with SCADA team</a:t>
            </a:r>
          </a:p>
          <a:p>
            <a:pPr/>
            <a:endParaRPr lang="en-US" dirty="0"/>
          </a:p>
          <a:p>
            <a:pPr algn="l" spcBef="254"/>
            <a:r>
              <a:rPr lang="en-US" sz="1300" b="0" i="0" dirty="0">
                <a:solidFill>
                  <a:srgbClr val="9CA3AF"/>
                </a:solidFill>
                <a:latin typeface="Calibri"/>
              </a:rPr>
              <a:t xml:space="preserve">ℹ  All timelines are tentative estimates and will be confirmed post-Assessment.</a:t>
            </a:r>
          </a:p>
        </p:txBody>
      </p:sp>
    </p:spTree>
  </p:cSld>
</p:sld>
</file>

<file path=ppt/theme/theme1.xml><?xml version="1.0" encoding="utf-8"?>
<a:theme xmlns:a="http://schemas.openxmlformats.org/drawingml/2006/main" name="OmniBlend">
  <a:themeElements>
    <a:clrScheme name="OmniBlend">
      <a:dk1>
        <a:srgbClr val="0B1F3A"/>
      </a:dk1>
      <a:lt1>
        <a:srgbClr val="FFFFFF"/>
      </a:lt1>
      <a:dk2>
        <a:srgbClr val="1B4F8A"/>
      </a:dk2>
      <a:lt2>
        <a:srgbClr val="EEF4F8"/>
      </a:lt2>
      <a:accent1>
        <a:srgbClr val="00B4D8"/>
      </a:accent1>
      <a:accent2>
        <a:srgbClr val="F59E0B"/>
      </a:accent2>
      <a:accent3>
        <a:srgbClr val="10B981"/>
      </a:accent3>
      <a:accent4>
        <a:srgbClr val="9CA3AF"/>
      </a:accent4>
      <a:accent5>
        <a:srgbClr val="1A1A2E"/>
      </a:accent5>
      <a:accent6>
        <a:srgbClr val="7F7F7F"/>
      </a:accent6>
      <a:hlink>
        <a:srgbClr val="00B4D8"/>
      </a:hlink>
      <a:folHlink>
        <a:srgbClr val="954F72"/>
      </a:folHlink>
    </a:clrScheme>
    <a:fontScheme name="OmniBlen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OmniBlend</Application>
  <Slides>16</Slides>
</Properties>
</file>

<file path=docProps/core.xml><?xml version="1.0" encoding="UTF-8" standalone="yes"?><cp:coreProperties xmlns:cp="http://schemas.openxmlformats.org/package/2006/metadata/core-properties"  xmlns:dc="http://purl.org/dc/elements/1.1/"  xmlns:dcterms="http://purl.org/dc/terms/"  xmlns:xsi="http://www.w3.org/2001/XMLSchema-instance"><dc:title>OmniBlend — Implementation: Technical & Commercial</dc:title><dc:creator>OmniBlend</dc:creator><dcterms:created xsi:type="dcterms:W3CDTF">2026-05-07T05:42:14Z</dcterms:created><dcterms:modified xsi:type="dcterms:W3CDTF">2026-05-07T05:42:14Z</dcterms:modified></cp:coreProperties>
</file>