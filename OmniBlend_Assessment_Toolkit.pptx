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xStyles>
    <p:titleStyle>
      <a:lvl1pPr>
        <a:defRPr lang="en-US"/>
      </a:lvl1pPr>
    </p:titleStyle>
    <p:bodyStyle>
      <a:lvl1pPr>
        <a:defRPr lang="en-US"/>
      </a:lvl1pPr>
    </p:bodyStyle>
    <p:otherStyle>
      <a:lvl1pPr>
        <a:defRPr lang="en-US"/>
      </a:lvl1pPr>
    </p:otherStyle>
  </p:txStyles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4400" b="1" i="0" dirty="0">
                <a:solidFill>
                  <a:srgbClr val="FFFFFF"/>
                </a:solidFill>
                <a:latin typeface="Calibri"/>
              </a:rPr>
              <a:t xml:space="preserve">OmniBlend Assessment Toolkit</a:t>
            </a:r>
          </a:p>
          <a:p>
            <a:pPr/>
            <a:endParaRPr lang="en-US" dirty="0"/>
          </a:p>
        </p:txBody>
      </p:sp>
      <p:sp>
        <p:nvSpPr>
          <p:cNvPr id="5" name="t5"/>
          <p:cNvSpPr txBox="1"/>
          <p:nvPr/>
        </p:nvSpPr>
        <p:spPr>
          <a:xfrm>
            <a:off x="548640" y="256032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2200" b="0" i="0" dirty="0">
                <a:solidFill>
                  <a:srgbClr val="B8D4F0"/>
                </a:solidFill>
                <a:latin typeface="Calibri"/>
              </a:rPr>
              <a:t xml:space="preserve">Evaluating Your Plant's Readiness for Digital Transformation</a:t>
            </a:r>
          </a:p>
        </p:txBody>
      </p:sp>
      <p:sp>
        <p:nvSpPr>
          <p:cNvPr id="6" name="t6"/>
          <p:cNvSpPr txBox="1"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400" b="0" i="0" dirty="0">
                <a:solidFill>
                  <a:srgbClr val="00B4D8"/>
                </a:solidFill>
                <a:latin typeface="Calibri"/>
              </a:rPr>
              <a:t xml:space="preserve">Conducted prior to implementation — typically 2 weeks on-site and remote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Purpose of This Assessment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This toolkit is used in the pre-implementation Discovery phase to understand your plant's current state and determine the most effective entry point into the OmniBlend programme.</a:t>
            </a:r>
          </a:p>
          <a:p>
            <a:pPr/>
            <a:endParaRPr lang="en-US" dirty="0"/>
          </a:p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What the Assessment Covers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Operational context — how your plant runs today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Technology and systems inventory — what you have and how it is connected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Data readiness — quality, availability and accessibility of key plant data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KPI baseline — current performance before OmniBlend is applied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People and process — roles, skills and current workflows</a:t>
            </a:r>
          </a:p>
          <a:p>
            <a:pPr/>
            <a:endParaRPr lang="en-US" dirty="0"/>
          </a:p>
          <a:p>
            <a:pPr algn="l" spcBef="762"/>
            <a:r>
              <a:rPr lang="en-US" sz="1800" b="1" i="0" dirty="0">
                <a:solidFill>
                  <a:srgbClr val="10B981"/>
                </a:solidFill>
                <a:latin typeface="Calibri"/>
              </a:rPr>
              <a:t xml:space="preserve">Output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A readiness score, gap summary and recommended phased entry point into the 26-week plan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400" b="0" i="0" dirty="0">
                <a:solidFill>
                  <a:srgbClr val="00B4D8"/>
                </a:solidFill>
                <a:latin typeface="Calibri"/>
              </a:rPr>
              <a:t xml:space="preserve">SECTION 1</a:t>
            </a:r>
          </a:p>
        </p:txBody>
      </p:sp>
      <p:sp>
        <p:nvSpPr>
          <p:cNvPr id="5" name="t5"/>
          <p:cNvSpPr txBox="1"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3600" b="1" i="0" dirty="0">
                <a:solidFill>
                  <a:srgbClr val="FFFFFF"/>
                </a:solidFill>
                <a:latin typeface="Calibri"/>
              </a:rPr>
              <a:t xml:space="preserve">Operational Context</a:t>
            </a:r>
          </a:p>
        </p:txBody>
      </p:sp>
      <p:sp>
        <p:nvSpPr>
          <p:cNvPr id="6" name="t6"/>
          <p:cNvSpPr txBox="1"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600" b="0" i="0" dirty="0">
                <a:solidFill>
                  <a:srgbClr val="B8D4F0"/>
                </a:solidFill>
                <a:latin typeface="Calibri"/>
              </a:rPr>
              <a:t xml:space="preserve">Understanding how the plant operates today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Section 1 — Operational Context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Blending Operations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How many blending vessels / batches per day on average?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What product grades are produced? (automotive, industrial, marine, specialty)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What is the average batch size (litres) and typical cycle time?</a:t>
            </a:r>
          </a:p>
          <a:p>
            <a:pPr/>
            <a:endParaRPr lang="en-US" dirty="0"/>
          </a:p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Current Reporting &amp; Visibility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How is shift handover information currently communicated?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How long does it take to compile a shift report?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How is batch genealogy currently recorded and stored?</a:t>
            </a:r>
          </a:p>
          <a:p>
            <a:pPr/>
            <a:endParaRPr lang="en-US" dirty="0"/>
          </a:p>
          <a:p>
            <a:pPr algn="l" spcBef="762"/>
            <a:r>
              <a:rPr lang="en-US" sz="1800" b="1" i="0" dirty="0">
                <a:solidFill>
                  <a:srgbClr val="F59E0B"/>
                </a:solidFill>
                <a:latin typeface="Calibri"/>
              </a:rPr>
              <a:t xml:space="preserve">Pain Points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What are the top 3 operational problems the team faces today?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What data do you wish you had, but currently do not?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400" b="0" i="0" dirty="0">
                <a:solidFill>
                  <a:srgbClr val="00B4D8"/>
                </a:solidFill>
                <a:latin typeface="Calibri"/>
              </a:rPr>
              <a:t xml:space="preserve">SECTION 2</a:t>
            </a:r>
          </a:p>
        </p:txBody>
      </p:sp>
      <p:sp>
        <p:nvSpPr>
          <p:cNvPr id="5" name="t5"/>
          <p:cNvSpPr txBox="1"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3600" b="1" i="0" dirty="0">
                <a:solidFill>
                  <a:srgbClr val="FFFFFF"/>
                </a:solidFill>
                <a:latin typeface="Calibri"/>
              </a:rPr>
              <a:t xml:space="preserve">Systems &amp; Technology Inventory</a:t>
            </a:r>
          </a:p>
        </p:txBody>
      </p:sp>
      <p:sp>
        <p:nvSpPr>
          <p:cNvPr id="6" name="t6"/>
          <p:cNvSpPr txBox="1"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600" b="0" i="0" dirty="0">
                <a:solidFill>
                  <a:srgbClr val="B8D4F0"/>
                </a:solidFill>
                <a:latin typeface="Calibri"/>
              </a:rPr>
              <a:t xml:space="preserve">Mapping what systems are in place and how they connect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Section 2 — Systems &amp; Technology Inventory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OT Layer (Plant Floor)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SCADA system: vendor, version, OPC-UA capability? (Yes / No / Unknown)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DCS / PLC: make, model, communication protocols available?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Tank instrumentation: level transmitters, thermocouples — make and model?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Flow meters and blender instruments connected to SCADA? (Yes / Partial / No)</a:t>
            </a:r>
          </a:p>
          <a:p>
            <a:pPr/>
            <a:endParaRPr lang="en-US" dirty="0"/>
          </a:p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IT Layer (Business Systems)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ERP system: SAP, Oracle, custom or spreadsheet-based?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LIMS: which system, version, and does it expose an API or webhook?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Recipe management: stored in ERP, standalone system or spreadsheets?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Supplier pricing: EDI feeds, supplier portals or manual entry?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400" b="0" i="0" dirty="0">
                <a:solidFill>
                  <a:srgbClr val="00B4D8"/>
                </a:solidFill>
                <a:latin typeface="Calibri"/>
              </a:rPr>
              <a:t xml:space="preserve">SECTION 3</a:t>
            </a:r>
          </a:p>
        </p:txBody>
      </p:sp>
      <p:sp>
        <p:nvSpPr>
          <p:cNvPr id="5" name="t5"/>
          <p:cNvSpPr txBox="1"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3600" b="1" i="0" dirty="0">
                <a:solidFill>
                  <a:srgbClr val="FFFFFF"/>
                </a:solidFill>
                <a:latin typeface="Calibri"/>
              </a:rPr>
              <a:t xml:space="preserve">Data Readiness</a:t>
            </a:r>
          </a:p>
        </p:txBody>
      </p:sp>
      <p:sp>
        <p:nvSpPr>
          <p:cNvPr id="6" name="t6"/>
          <p:cNvSpPr txBox="1"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600" b="0" i="0" dirty="0">
                <a:solidFill>
                  <a:srgbClr val="B8D4F0"/>
                </a:solidFill>
                <a:latin typeface="Calibri"/>
              </a:rPr>
              <a:t xml:space="preserve">Assessing the quality and accessibility of key data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Section 3 — Data Readiness Scorecard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762"/>
            <a:r>
              <a:rPr lang="en-US" sz="1800" b="1" i="0" dirty="0">
                <a:solidFill>
                  <a:srgbClr val="9CA3AF"/>
                </a:solidFill>
                <a:latin typeface="Calibri"/>
              </a:rPr>
              <a:t xml:space="preserve">Rate each area:  1 = Not available   3 = Partial   5 = Fully available &amp; accessible</a:t>
            </a:r>
          </a:p>
          <a:p>
            <a:pPr/>
            <a:endParaRPr lang="en-US" dirty="0"/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Tank level and temperature data — digital, in SCADA, and historically archived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Batch records — structured, per batch_id, with ingredient quantities and timestamps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Lab results — per batch, structured, signed off in LIMS with ASTM method references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Recipe formulations — version-controlled, with ingredient percentages and specs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Supplier pricing — current price lists available in a machine-readable format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Equipment maintenance history — structured records with fault codes and downtime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Production orders — linked to batch records in ERP with material consumption actuals</a:t>
            </a:r>
          </a:p>
          <a:p>
            <a:pPr/>
            <a:endParaRPr lang="en-US" dirty="0"/>
          </a:p>
          <a:p>
            <a:pPr algn="l" spcBef="254"/>
            <a:r>
              <a:rPr lang="en-US" sz="1300" b="0" i="0" dirty="0">
                <a:solidFill>
                  <a:srgbClr val="9CA3AF"/>
                </a:solidFill>
                <a:latin typeface="Calibri"/>
              </a:rPr>
              <a:t xml:space="preserve">ℹ  Minimum recommended score to begin Phase 3 (SCADA bridge): Data Readiness ≥ 3 across OT layer.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400" b="0" i="0" dirty="0">
                <a:solidFill>
                  <a:srgbClr val="00B4D8"/>
                </a:solidFill>
                <a:latin typeface="Calibri"/>
              </a:rPr>
              <a:t xml:space="preserve">SECTION 4</a:t>
            </a:r>
          </a:p>
        </p:txBody>
      </p:sp>
      <p:sp>
        <p:nvSpPr>
          <p:cNvPr id="5" name="t5"/>
          <p:cNvSpPr txBox="1"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3600" b="1" i="0" dirty="0">
                <a:solidFill>
                  <a:srgbClr val="FFFFFF"/>
                </a:solidFill>
                <a:latin typeface="Calibri"/>
              </a:rPr>
              <a:t xml:space="preserve">KPI Baseline Capture</a:t>
            </a:r>
          </a:p>
        </p:txBody>
      </p:sp>
      <p:sp>
        <p:nvSpPr>
          <p:cNvPr id="6" name="t6"/>
          <p:cNvSpPr txBox="1"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600" b="0" i="0" dirty="0">
                <a:solidFill>
                  <a:srgbClr val="B8D4F0"/>
                </a:solidFill>
                <a:latin typeface="Calibri"/>
              </a:rPr>
              <a:t xml:space="preserve">Recording current performance before OmniBlend is applied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Section 4 — KPI Baseline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500" b="0" i="0" dirty="0">
                <a:solidFill>
                  <a:srgbClr val="374151"/>
                </a:solidFill>
                <a:latin typeface="Calibri"/>
              </a:rPr>
              <a:t xml:space="preserve">These baselines will become the benchmark against which OmniBlend ROI is measured.</a:t>
            </a:r>
          </a:p>
          <a:p>
            <a:pPr/>
            <a:endParaRPr lang="en-US" dirty="0"/>
          </a:p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Capture the following (estimate if exact data is not available):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Out-of-spec batch rate  (% of batches failing QC per month)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Shift report compile time  (minutes from shift end to report distributed)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Batch traceability time  (time to compile full batch genealogy for an audit query)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COA generation time  (hours from batch release to COA dispatched to customer)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SCADA-to-decision latency  (current lag between plant event and management awareness)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Manual spreadsheet count  (number of active production spreadsheets in circulation)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Unplanned downtime  (hours per month across all blending equipment)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400" b="0" i="0" dirty="0">
                <a:solidFill>
                  <a:srgbClr val="00B4D8"/>
                </a:solidFill>
                <a:latin typeface="Calibri"/>
              </a:rPr>
              <a:t xml:space="preserve">SECTION 5</a:t>
            </a:r>
          </a:p>
        </p:txBody>
      </p:sp>
      <p:sp>
        <p:nvSpPr>
          <p:cNvPr id="5" name="t5"/>
          <p:cNvSpPr txBox="1"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3600" b="1" i="0" dirty="0">
                <a:solidFill>
                  <a:srgbClr val="FFFFFF"/>
                </a:solidFill>
                <a:latin typeface="Calibri"/>
              </a:rPr>
              <a:t xml:space="preserve">People &amp; Process</a:t>
            </a:r>
          </a:p>
        </p:txBody>
      </p:sp>
      <p:sp>
        <p:nvSpPr>
          <p:cNvPr id="6" name="t6"/>
          <p:cNvSpPr txBox="1"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600" b="0" i="0" dirty="0">
                <a:solidFill>
                  <a:srgbClr val="B8D4F0"/>
                </a:solidFill>
                <a:latin typeface="Calibri"/>
              </a:rPr>
              <a:t xml:space="preserve">Understanding roles, skills and change readiness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Section 5 — People &amp; Process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Roles &amp; Ownership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Who owns plant data today — IT, OT or Operations?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Is there an IT/OT liaison role, or are IT and OT teams siloed?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Who is the business sponsor for this digital transformation?</a:t>
            </a:r>
          </a:p>
          <a:p>
            <a:pPr/>
            <a:endParaRPr lang="en-US" dirty="0"/>
          </a:p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Skills Assessment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Level of familiarity with OPC-UA and SCADA data extraction on the OT team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LIMS administrator available to support API or webhook configuration?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SAP BASIS or functional consultant available for ERP integration activities?</a:t>
            </a:r>
          </a:p>
          <a:p>
            <a:pPr/>
            <a:endParaRPr lang="en-US" dirty="0"/>
          </a:p>
          <a:p>
            <a:pPr algn="l" spcBef="762"/>
            <a:r>
              <a:rPr lang="en-US" sz="1800" b="1" i="0" dirty="0">
                <a:solidFill>
                  <a:srgbClr val="F59E0B"/>
                </a:solidFill>
                <a:latin typeface="Calibri"/>
              </a:rPr>
              <a:t xml:space="preserve">Change Readiness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How receptive is the operations team to new digital tools?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Have previous digitalisation projects succeeded or struggled? What were the lessons?</a:t>
            </a: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Assessment Scoring Matrix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Score each section 1–5.  Total score determines recommended entry point.</a:t>
            </a:r>
          </a:p>
          <a:p>
            <a:pPr/>
            <a:endParaRPr lang="en-US" dirty="0"/>
          </a:p>
          <a:p>
            <a:pPr algn="l"/>
            <a:r>
              <a:rPr lang="en-US" sz="1600" b="0" i="0" dirty="0">
                <a:solidFill>
                  <a:srgbClr val="1A1A2E"/>
                </a:solidFill>
                <a:latin typeface="Calibri"/>
              </a:rPr>
              <a:t xml:space="preserve">SECTION 1  Operational Context       _____ / 5</a:t>
            </a:r>
          </a:p>
          <a:p>
            <a:pPr algn="l"/>
            <a:r>
              <a:rPr lang="en-US" sz="1600" b="0" i="0" dirty="0">
                <a:solidFill>
                  <a:srgbClr val="1A1A2E"/>
                </a:solidFill>
                <a:latin typeface="Calibri"/>
              </a:rPr>
              <a:t xml:space="preserve">SECTION 2  Systems Inventory          _____ / 5</a:t>
            </a:r>
          </a:p>
          <a:p>
            <a:pPr algn="l"/>
            <a:r>
              <a:rPr lang="en-US" sz="1600" b="0" i="0" dirty="0">
                <a:solidFill>
                  <a:srgbClr val="1A1A2E"/>
                </a:solidFill>
                <a:latin typeface="Calibri"/>
              </a:rPr>
              <a:t xml:space="preserve">SECTION 3  Data Readiness             _____ / 5</a:t>
            </a:r>
          </a:p>
          <a:p>
            <a:pPr algn="l"/>
            <a:r>
              <a:rPr lang="en-US" sz="1600" b="0" i="0" dirty="0">
                <a:solidFill>
                  <a:srgbClr val="1A1A2E"/>
                </a:solidFill>
                <a:latin typeface="Calibri"/>
              </a:rPr>
              <a:t xml:space="preserve">SECTION 4  KPI Baseline               _____ / 5</a:t>
            </a:r>
          </a:p>
          <a:p>
            <a:pPr algn="l"/>
            <a:r>
              <a:rPr lang="en-US" sz="1600" b="0" i="0" dirty="0">
                <a:solidFill>
                  <a:srgbClr val="1A1A2E"/>
                </a:solidFill>
                <a:latin typeface="Calibri"/>
              </a:rPr>
              <a:t xml:space="preserve">SECTION 5  People &amp; Process           _____ / 5</a:t>
            </a:r>
          </a:p>
          <a:p>
            <a:pPr/>
            <a:endParaRPr lang="en-US" dirty="0"/>
          </a:p>
          <a:p>
            <a:pPr algn="l"/>
            <a:r>
              <a:rPr lang="en-US" sz="2000" b="1" i="0" dirty="0">
                <a:solidFill>
                  <a:srgbClr val="0B1F3A"/>
                </a:solidFill>
                <a:latin typeface="Calibri"/>
              </a:rPr>
              <a:t xml:space="preserve">TOTAL READINESS SCORE                 _____ / 25</a:t>
            </a:r>
          </a:p>
          <a:p>
            <a:pPr/>
            <a:endParaRPr lang="en-US" dirty="0"/>
          </a:p>
          <a:p>
            <a:pPr algn="l"/>
            <a:r>
              <a:rPr lang="en-US" sz="1500" b="0" i="0" dirty="0">
                <a:solidFill>
                  <a:srgbClr val="10B981"/>
                </a:solidFill>
                <a:latin typeface="Calibri"/>
              </a:rPr>
              <a:t xml:space="preserve">20–25  →  Full 26-week programme, start Phase 1 immediately</a:t>
            </a:r>
          </a:p>
          <a:p>
            <a:pPr algn="l"/>
            <a:r>
              <a:rPr lang="en-US" sz="1500" b="0" i="0" dirty="0">
                <a:solidFill>
                  <a:srgbClr val="F59E0B"/>
                </a:solidFill>
                <a:latin typeface="Calibri"/>
              </a:rPr>
              <a:t xml:space="preserve">14–19  →  Begin with 4-week pre-work sprint before Phase 1</a:t>
            </a:r>
          </a:p>
          <a:p>
            <a:pPr algn="l"/>
            <a:r>
              <a:rPr lang="en-US" sz="1500" b="0" i="0" dirty="0">
                <a:solidFill>
                  <a:srgbClr val="EF4444"/>
                </a:solidFill>
                <a:latin typeface="Calibri"/>
              </a:rPr>
              <a:t xml:space="preserve">Below 14  →  Discovery extension recommended before committing to timeline</a:t>
            </a: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Assessment Output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What you receive after the Assessment:</a:t>
            </a:r>
          </a:p>
          <a:p>
            <a:pPr/>
            <a:endParaRPr lang="en-US" dirty="0"/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Current State Report — systems map, data inventory, gap summary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Readiness Score with section-by-section commentary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KPI Baseline Document — signed off by plant and management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Recommended Phase Entry Point — which Phase 1–8 activities begin first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Risk Register — top 5 implementation risks with suggested mitigations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Indicative Project Plan — week-by-week tentative schedule tailored to your plant</a:t>
            </a:r>
          </a:p>
          <a:p>
            <a:pPr/>
            <a:endParaRPr lang="en-US" dirty="0"/>
          </a:p>
          <a:p>
            <a:pPr algn="l" spcBef="254"/>
            <a:r>
              <a:rPr lang="en-US" sz="1300" b="0" i="0" dirty="0">
                <a:solidFill>
                  <a:srgbClr val="9CA3AF"/>
                </a:solidFill>
                <a:latin typeface="Calibri"/>
              </a:rPr>
              <a:t xml:space="preserve">ℹ  Assessment findings are confidential and shared only with nominated stakeholders.</a:t>
            </a:r>
          </a:p>
          <a:p>
            <a:pPr algn="l" spcBef="254"/>
            <a:r>
              <a:rPr lang="en-US" sz="1300" b="0" i="0" dirty="0">
                <a:solidFill>
                  <a:srgbClr val="9CA3AF"/>
                </a:solidFill>
                <a:latin typeface="Calibri"/>
              </a:rPr>
              <a:t xml:space="preserve">ℹ  Timeline is tentative and will be confirmed following Assessment completion.</a:t>
            </a: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Next Steps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762"/>
            <a:r>
              <a:rPr lang="en-US" sz="1800" b="1" i="0" dirty="0">
                <a:solidFill>
                  <a:srgbClr val="00B4D8"/>
                </a:solidFill>
                <a:latin typeface="Calibri"/>
              </a:rPr>
              <a:t xml:space="preserve">To schedule your Assessment:</a:t>
            </a:r>
          </a:p>
          <a:p>
            <a:pPr/>
            <a:endParaRPr lang="en-US" dirty="0"/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Nominate an Assessment Coordinator from your operations or IT team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Provide access to SCADA system documentation and plant P&amp;IDs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Arrange 2–3 hours of time with the LIMS administrator and ERP team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Share any existing KPI reports or shift reports for baseline context</a:t>
            </a:r>
          </a:p>
          <a:p>
            <a:pPr/>
            <a:endParaRPr lang="en-US" dirty="0"/>
          </a:p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Typical Assessment Duration: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Week 1 — Document review and remote interviews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Week 2 — On-site walkthroughs, system access checks, scoring and report</a:t>
            </a:r>
          </a:p>
          <a:p>
            <a:pPr/>
            <a:endParaRPr lang="en-US" dirty="0"/>
          </a:p>
          <a:p>
            <a:pPr algn="l" spcBef="254"/>
            <a:r>
              <a:rPr lang="en-US" sz="1300" b="0" i="0" dirty="0">
                <a:solidFill>
                  <a:srgbClr val="9CA3AF"/>
                </a:solidFill>
                <a:latin typeface="Calibri"/>
              </a:rPr>
              <a:t xml:space="preserve">ℹ  All timelines are tentative estimates and subject to change based on plant availability.</a:t>
            </a:r>
          </a:p>
        </p:txBody>
      </p:sp>
    </p:spTree>
  </p:cSld>
</p:sld>
</file>

<file path=ppt/theme/theme1.xml><?xml version="1.0" encoding="utf-8"?>
<a:theme xmlns:a="http://schemas.openxmlformats.org/drawingml/2006/main" name="OmniBlend">
  <a:themeElements>
    <a:clrScheme name="OmniBlend">
      <a:dk1>
        <a:srgbClr val="0B1F3A"/>
      </a:dk1>
      <a:lt1>
        <a:srgbClr val="FFFFFF"/>
      </a:lt1>
      <a:dk2>
        <a:srgbClr val="1B4F8A"/>
      </a:dk2>
      <a:lt2>
        <a:srgbClr val="EEF4F8"/>
      </a:lt2>
      <a:accent1>
        <a:srgbClr val="00B4D8"/>
      </a:accent1>
      <a:accent2>
        <a:srgbClr val="F59E0B"/>
      </a:accent2>
      <a:accent3>
        <a:srgbClr val="10B981"/>
      </a:accent3>
      <a:accent4>
        <a:srgbClr val="9CA3AF"/>
      </a:accent4>
      <a:accent5>
        <a:srgbClr val="1A1A2E"/>
      </a:accent5>
      <a:accent6>
        <a:srgbClr val="7F7F7F"/>
      </a:accent6>
      <a:hlink>
        <a:srgbClr val="00B4D8"/>
      </a:hlink>
      <a:folHlink>
        <a:srgbClr val="954F72"/>
      </a:folHlink>
    </a:clrScheme>
    <a:fontScheme name="OmniBlend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OmniBlend</Application>
  <Slides>15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OmniBlend — Assessment Toolkit</dc:title>
  <dc:creator>OmniBlend</dc:creator>
  <dcterms:created xsi:type="dcterms:W3CDTF">2026-05-07T05:42:14Z</dcterms:created>
  <dcterms:modified xsi:type="dcterms:W3CDTF">2026-05-07T05:42:14Z</dcterms:modified>
</cp:coreProperties>
</file>